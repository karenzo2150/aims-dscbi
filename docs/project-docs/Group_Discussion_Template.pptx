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6" d="100"/>
          <a:sy n="86" d="100"/>
        </p:scale>
        <p:origin x="714" y="3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Group Discussion: Machine Learning Use Case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 structured approach to identifying ML opportunities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Problem / Use Case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- Predicting </a:t>
            </a:r>
            <a:r>
              <a:rPr lang="en-US" dirty="0"/>
              <a:t>electricity </a:t>
            </a:r>
            <a:r>
              <a:rPr dirty="0"/>
              <a:t>demand</a:t>
            </a:r>
            <a:endParaRPr lang="en-US" dirty="0"/>
          </a:p>
          <a:p>
            <a:pPr lvl="1"/>
            <a:r>
              <a:rPr lang="en-US" dirty="0"/>
              <a:t>Observed electricity shortages/blackouts</a:t>
            </a:r>
          </a:p>
          <a:p>
            <a:pPr lvl="1"/>
            <a:r>
              <a:rPr lang="en-US" dirty="0"/>
              <a:t>Industrial developments (ZES)</a:t>
            </a:r>
          </a:p>
          <a:p>
            <a:pPr lvl="1"/>
            <a:r>
              <a:rPr lang="en-US" dirty="0"/>
              <a:t>Infrastructure developments (Houses, Roads, Stadiums, Airport, )</a:t>
            </a:r>
          </a:p>
          <a:p>
            <a:pPr lvl="1"/>
            <a:r>
              <a:rPr lang="en-US" dirty="0"/>
              <a:t>Population growth at acceleration.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 </a:t>
            </a:r>
            <a:r>
              <a:rPr lang="en-US" dirty="0"/>
              <a:t>Variables: Data on electricity consumption and other control indicators (i.e., master plans,  </a:t>
            </a:r>
          </a:p>
          <a:p>
            <a:r>
              <a:rPr lang="en-US" dirty="0"/>
              <a:t>Sources: REG, IREMBO data hub</a:t>
            </a:r>
          </a:p>
          <a:p>
            <a:r>
              <a:rPr lang="en-US" dirty="0"/>
              <a:t>Type: </a:t>
            </a:r>
            <a:r>
              <a:rPr dirty="0"/>
              <a:t>Tabular, text, images, audio, logs, etc.</a:t>
            </a:r>
          </a:p>
          <a:p>
            <a:r>
              <a:rPr lang="en-US" dirty="0"/>
              <a:t>Domain: infrastructure, industry and services</a:t>
            </a: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ML Task Type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Decide the type of ML task:</a:t>
            </a:r>
          </a:p>
          <a:p>
            <a:pPr marL="400050" lvl="1" indent="0">
              <a:buNone/>
            </a:pPr>
            <a:r>
              <a:rPr dirty="0"/>
              <a:t>Supervised: regression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 Expected Output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</a:t>
            </a:r>
            <a:r>
              <a:rPr dirty="0"/>
              <a:t>odel or system delivery</a:t>
            </a:r>
            <a:r>
              <a:rPr lang="en-US" dirty="0"/>
              <a:t>:</a:t>
            </a:r>
            <a:endParaRPr dirty="0"/>
          </a:p>
          <a:p>
            <a:r>
              <a:rPr dirty="0"/>
              <a:t>- Early detection</a:t>
            </a:r>
            <a:r>
              <a:rPr lang="en-US" dirty="0"/>
              <a:t> of electricity demands/shortage</a:t>
            </a:r>
            <a:endParaRPr dirty="0"/>
          </a:p>
          <a:p>
            <a:r>
              <a:t>- </a:t>
            </a:r>
            <a:r>
              <a:rPr dirty="0"/>
              <a:t>Improved decision-making or prediction accuracy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5. Discussion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Summarize your group’s findings:</a:t>
            </a:r>
          </a:p>
          <a:p>
            <a:r>
              <a:rPr dirty="0"/>
              <a:t>• Identified problem</a:t>
            </a:r>
          </a:p>
          <a:p>
            <a:r>
              <a:rPr dirty="0"/>
              <a:t>• Data sources</a:t>
            </a:r>
          </a:p>
          <a:p>
            <a:r>
              <a:rPr dirty="0"/>
              <a:t>• ML task type</a:t>
            </a:r>
          </a:p>
          <a:p>
            <a:r>
              <a:rPr dirty="0"/>
              <a:t>• Expected outcomes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59312A-315C-6BD4-A95F-19090F1F84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0D5D7B-01FA-45CF-51DF-A959D9142F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5. Discussion Summary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4172FE0-9D1E-A10E-A282-D491E72C018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57200" y="1192052"/>
                <a:ext cx="8531316" cy="4934111"/>
              </a:xfrm>
            </p:spPr>
            <p:txBody>
              <a:bodyPr>
                <a:normAutofit fontScale="32500" lnSpcReduction="20000"/>
              </a:bodyPr>
              <a:lstStyle/>
              <a:p>
                <a:r>
                  <a:rPr lang="sl-SI" b="1" dirty="0"/>
                  <a:t>Linear Regression Summary</a:t>
                </a:r>
                <a:endParaRPr lang="sl-SI" dirty="0"/>
              </a:p>
              <a:p>
                <a:r>
                  <a:rPr lang="sl-SI" b="1" dirty="0"/>
                  <a:t>Type of Learning:</a:t>
                </a:r>
                <a:endParaRPr lang="sl-SI" dirty="0"/>
              </a:p>
              <a:p>
                <a:r>
                  <a:rPr lang="sl-SI" dirty="0"/>
                  <a:t>Supervised learning</a:t>
                </a:r>
              </a:p>
              <a:p>
                <a:r>
                  <a:rPr lang="sl-SI" dirty="0"/>
                  <a:t>Used for regression tasks (predicting continuous values)</a:t>
                </a:r>
              </a:p>
              <a:p>
                <a:r>
                  <a:rPr lang="sl-SI" b="1" dirty="0"/>
                  <a:t>Core Idea:</a:t>
                </a:r>
                <a:endParaRPr lang="sl-SI" dirty="0"/>
              </a:p>
              <a:p>
                <a:r>
                  <a:rPr lang="sl-SI" dirty="0"/>
                  <a:t>Predict the dependent variable (target) as a linear combination of independent variables (features).</a:t>
                </a:r>
              </a:p>
              <a:p>
                <a:r>
                  <a:rPr lang="sl-SI" dirty="0"/>
                  <a:t>Example: </a:t>
                </a:r>
                <a14:m>
                  <m:oMath xmlns:m="http://schemas.openxmlformats.org/officeDocument/2006/math">
                    <m:r>
                      <a:rPr lang="sl-SI" i="1"/>
                      <m:t>𝑦</m:t>
                    </m:r>
                    <m:r>
                      <a:rPr lang="sl-SI"/>
                      <m:t>=</m:t>
                    </m:r>
                    <m:sSub>
                      <m:sSubPr>
                        <m:ctrlPr>
                          <a:rPr lang="ar-AE" i="1"/>
                        </m:ctrlPr>
                      </m:sSubPr>
                      <m:e>
                        <m:r>
                          <a:rPr lang="ar-AE" i="1"/>
                          <m:t>𝛽</m:t>
                        </m:r>
                      </m:e>
                      <m:sub>
                        <m:r>
                          <a:rPr lang="ar-AE"/>
                          <m:t>0</m:t>
                        </m:r>
                      </m:sub>
                    </m:sSub>
                    <m:r>
                      <a:rPr lang="ar-AE"/>
                      <m:t>+</m:t>
                    </m:r>
                    <m:sSub>
                      <m:sSubPr>
                        <m:ctrlPr>
                          <a:rPr lang="ar-AE" i="1"/>
                        </m:ctrlPr>
                      </m:sSubPr>
                      <m:e>
                        <m:r>
                          <a:rPr lang="ar-AE" i="1"/>
                          <m:t>𝛽</m:t>
                        </m:r>
                      </m:e>
                      <m:sub>
                        <m:r>
                          <a:rPr lang="ar-AE"/>
                          <m:t>1</m:t>
                        </m:r>
                      </m:sub>
                    </m:sSub>
                    <m:sSub>
                      <m:sSubPr>
                        <m:ctrlPr>
                          <a:rPr lang="ar-AE" i="1"/>
                        </m:ctrlPr>
                      </m:sSubPr>
                      <m:e>
                        <m:r>
                          <a:rPr lang="ar-AE" i="1"/>
                          <m:t>𝑥</m:t>
                        </m:r>
                      </m:e>
                      <m:sub>
                        <m:r>
                          <a:rPr lang="ar-AE"/>
                          <m:t>1</m:t>
                        </m:r>
                      </m:sub>
                    </m:sSub>
                    <m:r>
                      <a:rPr lang="ar-AE"/>
                      <m:t>+</m:t>
                    </m:r>
                    <m:sSub>
                      <m:sSubPr>
                        <m:ctrlPr>
                          <a:rPr lang="ar-AE" i="1"/>
                        </m:ctrlPr>
                      </m:sSubPr>
                      <m:e>
                        <m:r>
                          <a:rPr lang="ar-AE" i="1"/>
                          <m:t>𝛽</m:t>
                        </m:r>
                      </m:e>
                      <m:sub>
                        <m:r>
                          <a:rPr lang="ar-AE"/>
                          <m:t>2</m:t>
                        </m:r>
                      </m:sub>
                    </m:sSub>
                    <m:sSub>
                      <m:sSubPr>
                        <m:ctrlPr>
                          <a:rPr lang="ar-AE" i="1"/>
                        </m:ctrlPr>
                      </m:sSubPr>
                      <m:e>
                        <m:r>
                          <a:rPr lang="ar-AE" i="1"/>
                          <m:t>𝑥</m:t>
                        </m:r>
                      </m:e>
                      <m:sub>
                        <m:r>
                          <a:rPr lang="ar-AE"/>
                          <m:t>2</m:t>
                        </m:r>
                      </m:sub>
                    </m:sSub>
                    <m:r>
                      <a:rPr lang="ar-AE"/>
                      <m:t>+...+</m:t>
                    </m:r>
                    <m:sSub>
                      <m:sSubPr>
                        <m:ctrlPr>
                          <a:rPr lang="ar-AE" i="1"/>
                        </m:ctrlPr>
                      </m:sSubPr>
                      <m:e>
                        <m:r>
                          <a:rPr lang="ar-AE" i="1"/>
                          <m:t>𝛽</m:t>
                        </m:r>
                      </m:e>
                      <m:sub>
                        <m:r>
                          <a:rPr lang="ar-AE" i="1"/>
                          <m:t>𝑛</m:t>
                        </m:r>
                      </m:sub>
                    </m:sSub>
                    <m:sSub>
                      <m:sSubPr>
                        <m:ctrlPr>
                          <a:rPr lang="ar-AE" i="1"/>
                        </m:ctrlPr>
                      </m:sSubPr>
                      <m:e>
                        <m:r>
                          <a:rPr lang="ar-AE" i="1"/>
                          <m:t>𝑥</m:t>
                        </m:r>
                      </m:e>
                      <m:sub>
                        <m:r>
                          <a:rPr lang="ar-AE" i="1"/>
                          <m:t>𝑛</m:t>
                        </m:r>
                      </m:sub>
                    </m:sSub>
                    <m:r>
                      <a:rPr lang="ar-AE"/>
                      <m:t>+</m:t>
                    </m:r>
                    <m:r>
                      <a:rPr lang="ar-AE" i="1"/>
                      <m:t>𝜖</m:t>
                    </m:r>
                  </m:oMath>
                </a14:m>
                <a:endParaRPr lang="ar-AE" dirty="0"/>
              </a:p>
              <a:p>
                <a:r>
                  <a:rPr lang="sl-SI" b="1" dirty="0"/>
                  <a:t>Mathematical Intuition:</a:t>
                </a:r>
                <a:endParaRPr lang="sl-SI" dirty="0"/>
              </a:p>
              <a:p>
                <a:r>
                  <a:rPr lang="sl-SI" dirty="0"/>
                  <a:t>Minimize the </a:t>
                </a:r>
                <a:r>
                  <a:rPr lang="sl-SI" b="1" dirty="0"/>
                  <a:t>loss function</a:t>
                </a:r>
                <a:r>
                  <a:rPr lang="sl-SI" dirty="0"/>
                  <a:t>, typically the Mean Squared Error (MSE):</a:t>
                </a:r>
                <a:br>
                  <a:rPr lang="sl-SI" dirty="0"/>
                </a:br>
                <a:endParaRPr lang="sl-SI" dirty="0"/>
              </a:p>
              <a:p>
                <a:r>
                  <a:rPr lang="sl-SI" dirty="0"/>
                  <a:t>Goal: Find the coefficients (</a:t>
                </a:r>
                <a14:m>
                  <m:oMath xmlns:m="http://schemas.openxmlformats.org/officeDocument/2006/math">
                    <m:r>
                      <a:rPr lang="sl-SI" i="1"/>
                      <m:t>𝛽</m:t>
                    </m:r>
                  </m:oMath>
                </a14:m>
                <a:r>
                  <a:rPr lang="sl-SI" dirty="0"/>
                  <a:t>) that minimize the difference between predicted and actual values.</a:t>
                </a:r>
              </a:p>
              <a:p>
                <a:r>
                  <a:rPr lang="sl-SI" b="1" dirty="0"/>
                  <a:t>Key Hyperparameters</a:t>
                </a:r>
                <a:r>
                  <a:rPr lang="en-US" b="1" dirty="0"/>
                  <a:t> for overfitting</a:t>
                </a:r>
                <a:r>
                  <a:rPr lang="sl-SI" b="1" dirty="0"/>
                  <a:t>:</a:t>
                </a:r>
                <a:endParaRPr lang="sl-SI" dirty="0"/>
              </a:p>
              <a:p>
                <a:r>
                  <a:rPr lang="sl-SI" dirty="0"/>
                  <a:t>Usually very few; focus can be on:</a:t>
                </a:r>
              </a:p>
              <a:p>
                <a:pPr lvl="1"/>
                <a:r>
                  <a:rPr lang="sl-SI" dirty="0"/>
                  <a:t>Regularization (Ridge, Lasso)</a:t>
                </a:r>
                <a:r>
                  <a:rPr lang="en-US" dirty="0"/>
                  <a:t>: reduces model complexity, shrinks coefficients that normally would lead to overfitting </a:t>
                </a:r>
                <a:endParaRPr lang="sl-SI" dirty="0"/>
              </a:p>
              <a:p>
                <a:pPr lvl="1"/>
                <a:r>
                  <a:rPr lang="sl-SI" dirty="0"/>
                  <a:t>Fit intercept (True/False)</a:t>
                </a:r>
              </a:p>
              <a:p>
                <a:r>
                  <a:rPr lang="sl-SI" b="1" dirty="0"/>
                  <a:t>Evaluation Metrics:</a:t>
                </a:r>
                <a:endParaRPr lang="sl-SI" dirty="0"/>
              </a:p>
              <a:p>
                <a:r>
                  <a:rPr lang="sl-SI" dirty="0"/>
                  <a:t>Mean Squared Error (MSE)</a:t>
                </a:r>
              </a:p>
              <a:p>
                <a:r>
                  <a:rPr lang="sl-SI" dirty="0"/>
                  <a:t>Root Mean Squared Error (RMSE)</a:t>
                </a:r>
              </a:p>
              <a:p>
                <a:r>
                  <a:rPr lang="sl-SI" dirty="0"/>
                  <a:t>R-squared 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ar-AE"/>
                        </m:ctrlPr>
                      </m:sSupPr>
                      <m:e>
                        <m:r>
                          <a:rPr lang="ar-AE" i="1"/>
                          <m:t>𝑅</m:t>
                        </m:r>
                      </m:e>
                      <m:sup>
                        <m:r>
                          <a:rPr lang="ar-AE"/>
                          <m:t>2</m:t>
                        </m:r>
                      </m:sup>
                    </m:sSup>
                  </m:oMath>
                </a14:m>
                <a:r>
                  <a:rPr lang="ar-AE" dirty="0"/>
                  <a:t>)</a:t>
                </a:r>
              </a:p>
              <a:p>
                <a:r>
                  <a:rPr lang="sl-SI" b="1" dirty="0"/>
                  <a:t>Strengths:</a:t>
                </a:r>
                <a:endParaRPr lang="sl-SI" dirty="0"/>
              </a:p>
              <a:p>
                <a:r>
                  <a:rPr lang="sl-SI" dirty="0"/>
                  <a:t>Simple and interpretable</a:t>
                </a:r>
              </a:p>
              <a:p>
                <a:r>
                  <a:rPr lang="sl-SI" dirty="0"/>
                  <a:t>Fast to train and predict</a:t>
                </a:r>
              </a:p>
              <a:p>
                <a:r>
                  <a:rPr lang="sl-SI" dirty="0"/>
                  <a:t>Works well for linearly separable relationships</a:t>
                </a:r>
              </a:p>
              <a:p>
                <a:r>
                  <a:rPr lang="sl-SI" b="1" dirty="0"/>
                  <a:t>Weaknesses:</a:t>
                </a:r>
                <a:endParaRPr lang="sl-SI" dirty="0"/>
              </a:p>
              <a:p>
                <a:r>
                  <a:rPr lang="sl-SI" dirty="0"/>
                  <a:t>Assumes linear relationship between features and target</a:t>
                </a:r>
              </a:p>
              <a:p>
                <a:r>
                  <a:rPr lang="sl-SI" dirty="0"/>
                  <a:t>Sensitive to outliers</a:t>
                </a:r>
              </a:p>
              <a:p>
                <a:r>
                  <a:rPr lang="sl-SI" dirty="0"/>
                  <a:t>Can underperform if data is non-linear or high-dimensional without proper regularization</a:t>
                </a:r>
                <a:endParaRPr lang="en-US" dirty="0"/>
              </a:p>
              <a:p>
                <a:endParaRPr lang="en-US" dirty="0"/>
              </a:p>
              <a:p>
                <a:r>
                  <a:rPr lang="en-US" dirty="0">
                    <a:solidFill>
                      <a:srgbClr val="FF0000"/>
                    </a:solidFill>
                  </a:rPr>
                  <a:t>Loss function for random forest classifier : entropy </a:t>
                </a:r>
              </a:p>
              <a:p>
                <a:r>
                  <a:rPr lang="en-US" dirty="0">
                    <a:solidFill>
                      <a:srgbClr val="FF0000"/>
                    </a:solidFill>
                  </a:rPr>
                  <a:t>Maxim depth(more nodes down-tree) is depth is large the RF is likely to overfit and not able to generalize due to increased complexity, </a:t>
                </a:r>
              </a:p>
              <a:p>
                <a:r>
                  <a:rPr lang="en-US" dirty="0">
                    <a:solidFill>
                      <a:srgbClr val="FF0000"/>
                    </a:solidFill>
                  </a:rPr>
                  <a:t>Logistic regression is linear regression (uses sigmoid function) if used regularization, log loss or cross entropy as loss function </a:t>
                </a:r>
                <a:endParaRPr lang="sl-SI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4172FE0-9D1E-A10E-A282-D491E72C018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192052"/>
                <a:ext cx="8531316" cy="4934111"/>
              </a:xfrm>
              <a:blipFill>
                <a:blip r:embed="rId2"/>
                <a:stretch>
                  <a:fillRect t="-494"/>
                </a:stretch>
              </a:blipFill>
            </p:spPr>
            <p:txBody>
              <a:bodyPr/>
              <a:lstStyle/>
              <a:p>
                <a:r>
                  <a:rPr lang="en-RW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899018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748</TotalTime>
  <Words>411</Words>
  <Application>Microsoft Office PowerPoint</Application>
  <PresentationFormat>On-screen Show (4:3)</PresentationFormat>
  <Paragraphs>57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Group Discussion: Machine Learning Use Case</vt:lpstr>
      <vt:lpstr>1. Problem / Use Case</vt:lpstr>
      <vt:lpstr>2. Data</vt:lpstr>
      <vt:lpstr>3. ML Task Type</vt:lpstr>
      <vt:lpstr>4. Expected Output</vt:lpstr>
      <vt:lpstr>5. Discussion Summary</vt:lpstr>
      <vt:lpstr>5. Discussion Summary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Evariste MANIRUMVA</cp:lastModifiedBy>
  <cp:revision>11</cp:revision>
  <dcterms:created xsi:type="dcterms:W3CDTF">2013-01-27T09:14:16Z</dcterms:created>
  <dcterms:modified xsi:type="dcterms:W3CDTF">2025-11-04T19:44:56Z</dcterms:modified>
  <cp:category/>
</cp:coreProperties>
</file>